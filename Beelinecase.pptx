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1" r:id="rId5"/>
    <p:sldId id="262" r:id="rId6"/>
    <p:sldId id="263" r:id="rId7"/>
    <p:sldId id="264" r:id="rId8"/>
    <p:sldId id="269" r:id="rId9"/>
    <p:sldId id="268" r:id="rId10"/>
    <p:sldId id="267" r:id="rId11"/>
    <p:sldId id="273" r:id="rId12"/>
    <p:sldId id="270" r:id="rId13"/>
    <p:sldId id="271" r:id="rId14"/>
    <p:sldId id="265" r:id="rId15"/>
    <p:sldId id="266" r:id="rId16"/>
    <p:sldId id="274" r:id="rId17"/>
    <p:sldId id="259" r:id="rId18"/>
    <p:sldId id="26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p:restoredTop sz="81983"/>
  </p:normalViewPr>
  <p:slideViewPr>
    <p:cSldViewPr snapToGrid="0" snapToObjects="1">
      <p:cViewPr varScale="1">
        <p:scale>
          <a:sx n="103" d="100"/>
          <a:sy n="103" d="100"/>
        </p:scale>
        <p:origin x="184"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EB5A9-903F-3C4D-A055-593413FB9D42}" type="datetimeFigureOut">
              <a:rPr lang="en-US" smtClean="0"/>
              <a:t>3/30/19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54214F-7E04-5945-9391-49E65695151A}" type="slidenum">
              <a:rPr lang="en-US" smtClean="0"/>
              <a:t>‹#›</a:t>
            </a:fld>
            <a:endParaRPr lang="en-US"/>
          </a:p>
        </p:txBody>
      </p:sp>
    </p:spTree>
    <p:extLst>
      <p:ext uri="{BB962C8B-B14F-4D97-AF65-F5344CB8AC3E}">
        <p14:creationId xmlns:p14="http://schemas.microsoft.com/office/powerpoint/2010/main" val="4529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more closer look refer:</a:t>
            </a:r>
          </a:p>
          <a:p>
            <a:r>
              <a:rPr lang="en-US" dirty="0" smtClean="0"/>
              <a:t>August</a:t>
            </a:r>
            <a:r>
              <a:rPr lang="en-US" baseline="0" dirty="0" smtClean="0"/>
              <a:t> average: http://127.0.0.1:13961/custom/</a:t>
            </a:r>
            <a:r>
              <a:rPr lang="en-US" baseline="0" dirty="0" err="1" smtClean="0"/>
              <a:t>googleVis</a:t>
            </a:r>
            <a:r>
              <a:rPr lang="en-US" baseline="0" dirty="0" smtClean="0"/>
              <a:t>/MergedID2da046acbb24.html</a:t>
            </a:r>
            <a:endParaRPr lang="en-US" dirty="0" smtClean="0"/>
          </a:p>
          <a:p>
            <a:r>
              <a:rPr lang="en-US" dirty="0" smtClean="0"/>
              <a:t>September</a:t>
            </a:r>
            <a:r>
              <a:rPr lang="en-US" baseline="0" dirty="0" smtClean="0"/>
              <a:t> </a:t>
            </a:r>
            <a:r>
              <a:rPr lang="en-US" dirty="0" smtClean="0"/>
              <a:t>average: http://127.0.0.1:13961/custom/</a:t>
            </a:r>
            <a:r>
              <a:rPr lang="en-US" dirty="0" err="1" smtClean="0"/>
              <a:t>googleVis</a:t>
            </a:r>
            <a:r>
              <a:rPr lang="en-US" dirty="0" smtClean="0"/>
              <a:t>/MergedID2da03ba764d.html</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3</a:t>
            </a:fld>
            <a:endParaRPr lang="en-US"/>
          </a:p>
        </p:txBody>
      </p:sp>
    </p:spTree>
    <p:extLst>
      <p:ext uri="{BB962C8B-B14F-4D97-AF65-F5344CB8AC3E}">
        <p14:creationId xmlns:p14="http://schemas.microsoft.com/office/powerpoint/2010/main" val="957882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Each region spends about similar</a:t>
            </a:r>
          </a:p>
          <a:p>
            <a:r>
              <a:rPr lang="en-US" dirty="0" smtClean="0"/>
              <a:t>* However,</a:t>
            </a:r>
            <a:r>
              <a:rPr lang="en-US" baseline="0" dirty="0" smtClean="0"/>
              <a:t> h</a:t>
            </a:r>
            <a:r>
              <a:rPr lang="en-US" dirty="0" smtClean="0"/>
              <a:t>igher expenditure (above 125000) is visible</a:t>
            </a:r>
            <a:r>
              <a:rPr lang="en-US" baseline="0" dirty="0" smtClean="0"/>
              <a:t> in August</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4</a:t>
            </a:fld>
            <a:endParaRPr lang="en-US"/>
          </a:p>
        </p:txBody>
      </p:sp>
    </p:spTree>
    <p:extLst>
      <p:ext uri="{BB962C8B-B14F-4D97-AF65-F5344CB8AC3E}">
        <p14:creationId xmlns:p14="http://schemas.microsoft.com/office/powerpoint/2010/main" val="1293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*Higher spending is noticeable in AST region in August</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5</a:t>
            </a:fld>
            <a:endParaRPr lang="en-US"/>
          </a:p>
        </p:txBody>
      </p:sp>
    </p:spTree>
    <p:extLst>
      <p:ext uri="{BB962C8B-B14F-4D97-AF65-F5344CB8AC3E}">
        <p14:creationId xmlns:p14="http://schemas.microsoft.com/office/powerpoint/2010/main" val="1092429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Average data also shows that</a:t>
            </a:r>
            <a:r>
              <a:rPr lang="en-US" baseline="0" dirty="0" smtClean="0"/>
              <a:t> AST region brings higher revenue in August</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6</a:t>
            </a:fld>
            <a:endParaRPr lang="en-US"/>
          </a:p>
        </p:txBody>
      </p:sp>
    </p:spTree>
    <p:extLst>
      <p:ext uri="{BB962C8B-B14F-4D97-AF65-F5344CB8AC3E}">
        <p14:creationId xmlns:p14="http://schemas.microsoft.com/office/powerpoint/2010/main" val="210450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smtClean="0"/>
              <a:t>Distributio</a:t>
            </a:r>
            <a:r>
              <a:rPr lang="en-US" baseline="0" dirty="0" smtClean="0"/>
              <a:t>n of total revenue is very similar, except 2 high revenues in August and 1 high revenue in September by regions.</a:t>
            </a:r>
          </a:p>
          <a:p>
            <a:pPr marL="171450" indent="-171450">
              <a:buFont typeface="Arial" charset="0"/>
              <a:buChar char="•"/>
            </a:pPr>
            <a:r>
              <a:rPr lang="en-US" baseline="0" dirty="0" smtClean="0"/>
              <a:t>We can consider 3 points over 150000 as outliers.</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7</a:t>
            </a:fld>
            <a:endParaRPr lang="en-US"/>
          </a:p>
        </p:txBody>
      </p:sp>
    </p:spTree>
    <p:extLst>
      <p:ext uri="{BB962C8B-B14F-4D97-AF65-F5344CB8AC3E}">
        <p14:creationId xmlns:p14="http://schemas.microsoft.com/office/powerpoint/2010/main" val="166409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baseline="0" dirty="0" smtClean="0"/>
              <a:t>All regions, except AST shows similar revenue from Data and especially in August.</a:t>
            </a:r>
          </a:p>
          <a:p>
            <a:pPr marL="171450" indent="-171450">
              <a:buFont typeface="Arial" charset="0"/>
              <a:buChar char="•"/>
            </a:pPr>
            <a:r>
              <a:rPr lang="en-US" baseline="0" dirty="0" smtClean="0"/>
              <a:t>Very high Revenue from Data usage can be accidental, since only sample data (about 1000 rows) is being used. Also, high data revenue only is seen in August.</a:t>
            </a:r>
          </a:p>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8</a:t>
            </a:fld>
            <a:endParaRPr lang="en-US"/>
          </a:p>
        </p:txBody>
      </p:sp>
    </p:spTree>
    <p:extLst>
      <p:ext uri="{BB962C8B-B14F-4D97-AF65-F5344CB8AC3E}">
        <p14:creationId xmlns:p14="http://schemas.microsoft.com/office/powerpoint/2010/main" val="283794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Average data also shows that</a:t>
            </a:r>
            <a:r>
              <a:rPr lang="en-US" baseline="0" dirty="0" smtClean="0"/>
              <a:t> AST is the major region to bring revenue from Data.</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9</a:t>
            </a:fld>
            <a:endParaRPr lang="en-US"/>
          </a:p>
        </p:txBody>
      </p:sp>
    </p:spTree>
    <p:extLst>
      <p:ext uri="{BB962C8B-B14F-4D97-AF65-F5344CB8AC3E}">
        <p14:creationId xmlns:p14="http://schemas.microsoft.com/office/powerpoint/2010/main" val="911366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Higher</a:t>
            </a:r>
            <a:r>
              <a:rPr lang="en-US" baseline="0" dirty="0" smtClean="0"/>
              <a:t> usage of Traffic Data does not necessarily mean higher revenue. For example: in ATB traffic data usage is about 45000 Mb and in KZT it is about 30000 Mb, however, in KZT the Revenue coming from Data Traffic is greater than in ATB.</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10</a:t>
            </a:fld>
            <a:endParaRPr lang="en-US"/>
          </a:p>
        </p:txBody>
      </p:sp>
    </p:spTree>
    <p:extLst>
      <p:ext uri="{BB962C8B-B14F-4D97-AF65-F5344CB8AC3E}">
        <p14:creationId xmlns:p14="http://schemas.microsoft.com/office/powerpoint/2010/main" val="728631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r>
              <a:rPr lang="en-US" baseline="0" dirty="0" smtClean="0"/>
              <a:t> Top Right hand side of the graph shows high usage and high revenue of Data. By looking at this corner we can see 5 major regions driving ahead: KZT, SHM, AST, KZO, and OSK</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11</a:t>
            </a:fld>
            <a:endParaRPr lang="en-US"/>
          </a:p>
        </p:txBody>
      </p:sp>
    </p:spTree>
    <p:extLst>
      <p:ext uri="{BB962C8B-B14F-4D97-AF65-F5344CB8AC3E}">
        <p14:creationId xmlns:p14="http://schemas.microsoft.com/office/powerpoint/2010/main" val="53380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smtClean="0"/>
              <a:t>Majority of Revenue comes from Big</a:t>
            </a:r>
            <a:r>
              <a:rPr lang="en-US" baseline="0" dirty="0" smtClean="0"/>
              <a:t> regions like KZT, SHM, AST, ATB, OSK</a:t>
            </a:r>
          </a:p>
          <a:p>
            <a:pPr marL="171450" indent="-171450">
              <a:buFont typeface="Arial" charset="0"/>
              <a:buChar char="•"/>
            </a:pPr>
            <a:r>
              <a:rPr lang="en-US" baseline="0" dirty="0" smtClean="0"/>
              <a:t>Both months have similar revenue, without any visible outliers</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12</a:t>
            </a:fld>
            <a:endParaRPr lang="en-US"/>
          </a:p>
        </p:txBody>
      </p:sp>
    </p:spTree>
    <p:extLst>
      <p:ext uri="{BB962C8B-B14F-4D97-AF65-F5344CB8AC3E}">
        <p14:creationId xmlns:p14="http://schemas.microsoft.com/office/powerpoint/2010/main" val="222480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Voice usage is high in SHM, KZT, and AST regions, however</a:t>
            </a:r>
            <a:r>
              <a:rPr lang="en-US" baseline="0" dirty="0" smtClean="0"/>
              <a:t>, greater revenue comes from KZT. Even though, revenue from voice in KZT is twice as high as in SHM, the voice usage is higher in SHM than in KZT. (Reason: There should be some voice plans that varies from region to region or from usage to usage)</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13</a:t>
            </a:fld>
            <a:endParaRPr lang="en-US"/>
          </a:p>
        </p:txBody>
      </p:sp>
    </p:spTree>
    <p:extLst>
      <p:ext uri="{BB962C8B-B14F-4D97-AF65-F5344CB8AC3E}">
        <p14:creationId xmlns:p14="http://schemas.microsoft.com/office/powerpoint/2010/main" val="1900639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Small revenue from Voice service is indicated in ATR, AKT, PTP, TRZ regions.</a:t>
            </a:r>
          </a:p>
          <a:p>
            <a:r>
              <a:rPr lang="en-US" dirty="0" smtClean="0"/>
              <a:t>*</a:t>
            </a:r>
            <a:r>
              <a:rPr lang="en-US" baseline="0" dirty="0" smtClean="0"/>
              <a:t> There is a strong contrast between revenue from KZT and other regions. SHM with more population than KZT has twice as less revenue than from KZT. (Reason: may be there are better voice options in Almaty)</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14</a:t>
            </a:fld>
            <a:endParaRPr lang="en-US"/>
          </a:p>
        </p:txBody>
      </p:sp>
    </p:spTree>
    <p:extLst>
      <p:ext uri="{BB962C8B-B14F-4D97-AF65-F5344CB8AC3E}">
        <p14:creationId xmlns:p14="http://schemas.microsoft.com/office/powerpoint/2010/main" val="1197273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Almost the same</a:t>
            </a:r>
            <a:endParaRPr lang="en-US" dirty="0"/>
          </a:p>
        </p:txBody>
      </p:sp>
      <p:sp>
        <p:nvSpPr>
          <p:cNvPr id="4" name="Slide Number Placeholder 3"/>
          <p:cNvSpPr>
            <a:spLocks noGrp="1"/>
          </p:cNvSpPr>
          <p:nvPr>
            <p:ph type="sldNum" sz="quarter" idx="10"/>
          </p:nvPr>
        </p:nvSpPr>
        <p:spPr/>
        <p:txBody>
          <a:bodyPr/>
          <a:lstStyle/>
          <a:p>
            <a:fld id="{7454214F-7E04-5945-9391-49E65695151A}" type="slidenum">
              <a:rPr lang="en-US" smtClean="0"/>
              <a:t>15</a:t>
            </a:fld>
            <a:endParaRPr lang="en-US"/>
          </a:p>
        </p:txBody>
      </p:sp>
    </p:spTree>
    <p:extLst>
      <p:ext uri="{BB962C8B-B14F-4D97-AF65-F5344CB8AC3E}">
        <p14:creationId xmlns:p14="http://schemas.microsoft.com/office/powerpoint/2010/main" val="1743459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baseline="0" dirty="0" smtClean="0"/>
              <a:t>Sample data from both months shows that the oldest SIM Card Activation period starts from 2006. </a:t>
            </a:r>
          </a:p>
          <a:p>
            <a:pPr marL="171450" indent="-171450">
              <a:buFont typeface="Arial" charset="0"/>
              <a:buChar char="•"/>
            </a:pPr>
            <a:r>
              <a:rPr lang="en-US" baseline="0" dirty="0" smtClean="0"/>
              <a:t>SIM Activation gradually increases through the course of the period, however in the last 2014 and 2015 years there are rapid increases in Client SIM Card Activation.</a:t>
            </a:r>
          </a:p>
          <a:p>
            <a:pPr marL="171450" indent="-171450">
              <a:buFont typeface="Arial" charset="0"/>
              <a:buChar char="•"/>
            </a:pPr>
            <a:r>
              <a:rPr lang="en-US" baseline="0" dirty="0" smtClean="0"/>
              <a:t>It is tough to guess demographic, economic status of the clients, since the high indication of service activation in recent years (2014, 2015) does not explicitly show more members. That is, there is no solid ground to say that Beeline has more clients in recent years. </a:t>
            </a:r>
          </a:p>
          <a:p>
            <a:pPr marL="171450" indent="-171450">
              <a:buFont typeface="Arial" charset="0"/>
              <a:buChar char="•"/>
            </a:pPr>
            <a:r>
              <a:rPr lang="en-US" baseline="0" dirty="0" smtClean="0"/>
              <a:t>However, recent changes in the country allows people to have one cell-phone number and only change a carrier. This change made a lot easier for people to shift between mobile carriers (Beeline, K-cell, Tele2, and so on). </a:t>
            </a:r>
          </a:p>
        </p:txBody>
      </p:sp>
      <p:sp>
        <p:nvSpPr>
          <p:cNvPr id="4" name="Slide Number Placeholder 3"/>
          <p:cNvSpPr>
            <a:spLocks noGrp="1"/>
          </p:cNvSpPr>
          <p:nvPr>
            <p:ph type="sldNum" sz="quarter" idx="10"/>
          </p:nvPr>
        </p:nvSpPr>
        <p:spPr/>
        <p:txBody>
          <a:bodyPr/>
          <a:lstStyle/>
          <a:p>
            <a:fld id="{7454214F-7E04-5945-9391-49E65695151A}" type="slidenum">
              <a:rPr lang="en-US" smtClean="0"/>
              <a:t>16</a:t>
            </a:fld>
            <a:endParaRPr lang="en-US"/>
          </a:p>
        </p:txBody>
      </p:sp>
    </p:spTree>
    <p:extLst>
      <p:ext uri="{BB962C8B-B14F-4D97-AF65-F5344CB8AC3E}">
        <p14:creationId xmlns:p14="http://schemas.microsoft.com/office/powerpoint/2010/main" val="153229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60FEA91-B811-2D4A-9C35-CEB440CD19A7}" type="datetimeFigureOut">
              <a:rPr lang="en-US" smtClean="0"/>
              <a:t>3/30/19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411145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0FEA91-B811-2D4A-9C35-CEB440CD19A7}" type="datetimeFigureOut">
              <a:rPr lang="en-US" smtClean="0"/>
              <a:t>3/30/19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387256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0FEA91-B811-2D4A-9C35-CEB440CD19A7}" type="datetimeFigureOut">
              <a:rPr lang="en-US" smtClean="0"/>
              <a:t>3/30/19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871749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0FEA91-B811-2D4A-9C35-CEB440CD19A7}" type="datetimeFigureOut">
              <a:rPr lang="en-US" smtClean="0"/>
              <a:t>3/30/19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2943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0FEA91-B811-2D4A-9C35-CEB440CD19A7}" type="datetimeFigureOut">
              <a:rPr lang="en-US" smtClean="0"/>
              <a:t>3/30/19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8037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60FEA91-B811-2D4A-9C35-CEB440CD19A7}" type="datetimeFigureOut">
              <a:rPr lang="en-US" smtClean="0"/>
              <a:t>3/30/19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63040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0FEA91-B811-2D4A-9C35-CEB440CD19A7}" type="datetimeFigureOut">
              <a:rPr lang="en-US" smtClean="0"/>
              <a:t>3/30/19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816531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0FEA91-B811-2D4A-9C35-CEB440CD19A7}" type="datetimeFigureOut">
              <a:rPr lang="en-US" smtClean="0"/>
              <a:t>3/30/19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02129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0FEA91-B811-2D4A-9C35-CEB440CD19A7}" type="datetimeFigureOut">
              <a:rPr lang="en-US" smtClean="0"/>
              <a:t>3/30/19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2132866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0FEA91-B811-2D4A-9C35-CEB440CD19A7}" type="datetimeFigureOut">
              <a:rPr lang="en-US" smtClean="0"/>
              <a:t>3/30/19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282700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0FEA91-B811-2D4A-9C35-CEB440CD19A7}" type="datetimeFigureOut">
              <a:rPr lang="en-US" smtClean="0"/>
              <a:t>3/30/19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D48705-EC17-7840-83EB-19AE653574BD}" type="slidenum">
              <a:rPr lang="en-US" smtClean="0"/>
              <a:t>‹#›</a:t>
            </a:fld>
            <a:endParaRPr lang="en-US"/>
          </a:p>
        </p:txBody>
      </p:sp>
    </p:spTree>
    <p:extLst>
      <p:ext uri="{BB962C8B-B14F-4D97-AF65-F5344CB8AC3E}">
        <p14:creationId xmlns:p14="http://schemas.microsoft.com/office/powerpoint/2010/main" val="190208509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0FEA91-B811-2D4A-9C35-CEB440CD19A7}" type="datetimeFigureOut">
              <a:rPr lang="en-US" smtClean="0"/>
              <a:t>3/30/19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48705-EC17-7840-83EB-19AE653574BD}" type="slidenum">
              <a:rPr lang="en-US" smtClean="0"/>
              <a:t>‹#›</a:t>
            </a:fld>
            <a:endParaRPr lang="en-US"/>
          </a:p>
        </p:txBody>
      </p:sp>
    </p:spTree>
    <p:extLst>
      <p:ext uri="{BB962C8B-B14F-4D97-AF65-F5344CB8AC3E}">
        <p14:creationId xmlns:p14="http://schemas.microsoft.com/office/powerpoint/2010/main" val="783205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300" dirty="0" smtClean="0"/>
              <a:t>Data Analysis of client network usage in August and September 2015</a:t>
            </a:r>
            <a:endParaRPr lang="en-US" sz="5300" dirty="0"/>
          </a:p>
        </p:txBody>
      </p:sp>
      <p:sp>
        <p:nvSpPr>
          <p:cNvPr id="3" name="Subtitle 2"/>
          <p:cNvSpPr>
            <a:spLocks noGrp="1"/>
          </p:cNvSpPr>
          <p:nvPr>
            <p:ph type="subTitle" idx="1"/>
          </p:nvPr>
        </p:nvSpPr>
        <p:spPr/>
        <p:txBody>
          <a:bodyPr/>
          <a:lstStyle/>
          <a:p>
            <a:r>
              <a:rPr lang="en-US" dirty="0" err="1" smtClean="0"/>
              <a:t>Botagoz</a:t>
            </a:r>
            <a:r>
              <a:rPr lang="en-US" dirty="0" smtClean="0"/>
              <a:t> </a:t>
            </a:r>
            <a:r>
              <a:rPr lang="en-US" dirty="0" err="1" smtClean="0"/>
              <a:t>Mukatova</a:t>
            </a:r>
            <a:endParaRPr lang="en-US" dirty="0" smtClean="0"/>
          </a:p>
          <a:p>
            <a:r>
              <a:rPr lang="en-US" dirty="0" smtClean="0"/>
              <a:t>27/06/2017</a:t>
            </a:r>
            <a:endParaRPr lang="en-US" dirty="0"/>
          </a:p>
        </p:txBody>
      </p:sp>
    </p:spTree>
    <p:extLst>
      <p:ext uri="{BB962C8B-B14F-4D97-AF65-F5344CB8AC3E}">
        <p14:creationId xmlns:p14="http://schemas.microsoft.com/office/powerpoint/2010/main" val="320214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a:t>
            </a:r>
            <a:endParaRPr lang="en-US" dirty="0"/>
          </a:p>
        </p:txBody>
      </p:sp>
      <p:sp>
        <p:nvSpPr>
          <p:cNvPr id="3" name="Content Placeholder 2"/>
          <p:cNvSpPr>
            <a:spLocks noGrp="1"/>
          </p:cNvSpPr>
          <p:nvPr>
            <p:ph idx="1"/>
          </p:nvPr>
        </p:nvSpPr>
        <p:spPr/>
        <p:txBody>
          <a:bodyPr/>
          <a:lstStyle/>
          <a:p>
            <a:r>
              <a:rPr lang="en-US" dirty="0" smtClean="0"/>
              <a:t>Data Overview</a:t>
            </a:r>
          </a:p>
          <a:p>
            <a:pPr lvl="1"/>
            <a:r>
              <a:rPr lang="en-US" dirty="0" smtClean="0"/>
              <a:t>Total Revenue</a:t>
            </a:r>
          </a:p>
          <a:p>
            <a:pPr lvl="1"/>
            <a:r>
              <a:rPr lang="en-US" dirty="0" smtClean="0"/>
              <a:t>Data Revenue and Traffic</a:t>
            </a:r>
          </a:p>
          <a:p>
            <a:pPr lvl="1"/>
            <a:r>
              <a:rPr lang="en-US" dirty="0" smtClean="0"/>
              <a:t>Voice Revenue and Usage</a:t>
            </a:r>
          </a:p>
          <a:p>
            <a:pPr lvl="1"/>
            <a:r>
              <a:rPr lang="en-US" dirty="0" smtClean="0"/>
              <a:t>Client/Service Activation Information</a:t>
            </a:r>
          </a:p>
          <a:p>
            <a:r>
              <a:rPr lang="en-US" dirty="0" smtClean="0"/>
              <a:t>Conclusion</a:t>
            </a:r>
          </a:p>
        </p:txBody>
      </p:sp>
    </p:spTree>
    <p:extLst>
      <p:ext uri="{BB962C8B-B14F-4D97-AF65-F5344CB8AC3E}">
        <p14:creationId xmlns:p14="http://schemas.microsoft.com/office/powerpoint/2010/main" val="39745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Overview</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932" y="1466660"/>
            <a:ext cx="5945067" cy="4008735"/>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466661"/>
            <a:ext cx="5950137" cy="4008734"/>
          </a:xfrm>
          <a:prstGeom prst="rect">
            <a:avLst/>
          </a:prstGeom>
        </p:spPr>
      </p:pic>
      <p:sp>
        <p:nvSpPr>
          <p:cNvPr id="6" name="TextBox 5"/>
          <p:cNvSpPr txBox="1"/>
          <p:nvPr/>
        </p:nvSpPr>
        <p:spPr>
          <a:xfrm>
            <a:off x="150932" y="5721179"/>
            <a:ext cx="7584398" cy="646331"/>
          </a:xfrm>
          <a:prstGeom prst="rect">
            <a:avLst/>
          </a:prstGeom>
          <a:noFill/>
        </p:spPr>
        <p:txBody>
          <a:bodyPr wrap="square" rtlCol="0">
            <a:spAutoFit/>
          </a:bodyPr>
          <a:lstStyle/>
          <a:p>
            <a:pPr marL="285750" indent="-285750">
              <a:buFont typeface="Arial" charset="0"/>
              <a:buChar char="•"/>
            </a:pPr>
            <a:r>
              <a:rPr lang="en-US" dirty="0" smtClean="0"/>
              <a:t>14 regions are covered;</a:t>
            </a:r>
          </a:p>
          <a:p>
            <a:pPr marL="285750" indent="-285750">
              <a:buFont typeface="Arial" charset="0"/>
              <a:buChar char="•"/>
            </a:pPr>
            <a:r>
              <a:rPr lang="en-US" dirty="0" smtClean="0"/>
              <a:t>Average Total Revenue per Region varies from August to September 2015;</a:t>
            </a:r>
            <a:endParaRPr lang="en-US" dirty="0"/>
          </a:p>
        </p:txBody>
      </p:sp>
    </p:spTree>
    <p:extLst>
      <p:ext uri="{BB962C8B-B14F-4D97-AF65-F5344CB8AC3E}">
        <p14:creationId xmlns:p14="http://schemas.microsoft.com/office/powerpoint/2010/main" val="946524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 of Total Revenue per Region</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2645" y="1685062"/>
            <a:ext cx="7367129" cy="4601437"/>
          </a:xfrm>
        </p:spPr>
      </p:pic>
    </p:spTree>
    <p:extLst>
      <p:ext uri="{BB962C8B-B14F-4D97-AF65-F5344CB8AC3E}">
        <p14:creationId xmlns:p14="http://schemas.microsoft.com/office/powerpoint/2010/main" val="101387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t>
            </a:r>
            <a:r>
              <a:rPr lang="en-US" dirty="0" smtClean="0"/>
              <a:t>otal Revenue for each Region in each month</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3287" y="1825625"/>
            <a:ext cx="7005426" cy="4351338"/>
          </a:xfrm>
        </p:spPr>
      </p:pic>
    </p:spTree>
    <p:extLst>
      <p:ext uri="{BB962C8B-B14F-4D97-AF65-F5344CB8AC3E}">
        <p14:creationId xmlns:p14="http://schemas.microsoft.com/office/powerpoint/2010/main" val="2144769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t>
            </a:r>
            <a:r>
              <a:rPr lang="en-US" dirty="0" smtClean="0"/>
              <a:t>otal </a:t>
            </a:r>
            <a:r>
              <a:rPr lang="en-US" dirty="0"/>
              <a:t>R</a:t>
            </a:r>
            <a:r>
              <a:rPr lang="en-US" dirty="0" smtClean="0"/>
              <a:t>evenue mean for each Region in each month</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38851" y="1825625"/>
            <a:ext cx="6914298" cy="4351338"/>
          </a:xfrm>
        </p:spPr>
      </p:pic>
    </p:spTree>
    <p:extLst>
      <p:ext uri="{BB962C8B-B14F-4D97-AF65-F5344CB8AC3E}">
        <p14:creationId xmlns:p14="http://schemas.microsoft.com/office/powerpoint/2010/main" val="883087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Total Revenue summary</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0755" y="1825625"/>
            <a:ext cx="7010489" cy="4351338"/>
          </a:xfrm>
        </p:spPr>
      </p:pic>
    </p:spTree>
    <p:extLst>
      <p:ext uri="{BB962C8B-B14F-4D97-AF65-F5344CB8AC3E}">
        <p14:creationId xmlns:p14="http://schemas.microsoft.com/office/powerpoint/2010/main" val="946997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Total Data Revenue</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41198" y="1825625"/>
            <a:ext cx="6909604" cy="4351338"/>
          </a:xfrm>
        </p:spPr>
      </p:pic>
    </p:spTree>
    <p:extLst>
      <p:ext uri="{BB962C8B-B14F-4D97-AF65-F5344CB8AC3E}">
        <p14:creationId xmlns:p14="http://schemas.microsoft.com/office/powerpoint/2010/main" val="2083947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Average Data Revenue</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6511" y="1825625"/>
            <a:ext cx="6998977" cy="4351338"/>
          </a:xfrm>
        </p:spPr>
      </p:pic>
    </p:spTree>
    <p:extLst>
      <p:ext uri="{BB962C8B-B14F-4D97-AF65-F5344CB8AC3E}">
        <p14:creationId xmlns:p14="http://schemas.microsoft.com/office/powerpoint/2010/main" val="9772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August: Sum of Revenue Data and Sum of Traffic Data usage</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2325" y="1825625"/>
            <a:ext cx="7007349" cy="4351338"/>
          </a:xfrm>
        </p:spPr>
      </p:pic>
    </p:spTree>
    <p:extLst>
      <p:ext uri="{BB962C8B-B14F-4D97-AF65-F5344CB8AC3E}">
        <p14:creationId xmlns:p14="http://schemas.microsoft.com/office/powerpoint/2010/main" val="1143480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September: Sum of Revenue Data and Sum of Traffic Data usage</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27460" y="1825625"/>
            <a:ext cx="6937080" cy="4351338"/>
          </a:xfrm>
        </p:spPr>
      </p:pic>
    </p:spTree>
    <p:extLst>
      <p:ext uri="{BB962C8B-B14F-4D97-AF65-F5344CB8AC3E}">
        <p14:creationId xmlns:p14="http://schemas.microsoft.com/office/powerpoint/2010/main" val="1791012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Total Revenue from Voice</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53558" y="1825625"/>
            <a:ext cx="6884884" cy="4351338"/>
          </a:xfrm>
        </p:spPr>
      </p:pic>
    </p:spTree>
    <p:extLst>
      <p:ext uri="{BB962C8B-B14F-4D97-AF65-F5344CB8AC3E}">
        <p14:creationId xmlns:p14="http://schemas.microsoft.com/office/powerpoint/2010/main" val="895693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Total Voice Usage</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67328" y="1825625"/>
            <a:ext cx="6857344" cy="4351338"/>
          </a:xfrm>
        </p:spPr>
      </p:pic>
    </p:spTree>
    <p:extLst>
      <p:ext uri="{BB962C8B-B14F-4D97-AF65-F5344CB8AC3E}">
        <p14:creationId xmlns:p14="http://schemas.microsoft.com/office/powerpoint/2010/main" val="1622113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3591" y="928688"/>
            <a:ext cx="8644469" cy="5383211"/>
          </a:xfrm>
        </p:spPr>
      </p:pic>
    </p:spTree>
    <p:extLst>
      <p:ext uri="{BB962C8B-B14F-4D97-AF65-F5344CB8AC3E}">
        <p14:creationId xmlns:p14="http://schemas.microsoft.com/office/powerpoint/2010/main" val="138941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92730" y="685800"/>
            <a:ext cx="8860910" cy="5214937"/>
          </a:xfrm>
        </p:spPr>
      </p:pic>
    </p:spTree>
    <p:extLst>
      <p:ext uri="{BB962C8B-B14F-4D97-AF65-F5344CB8AC3E}">
        <p14:creationId xmlns:p14="http://schemas.microsoft.com/office/powerpoint/2010/main" val="1774870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Activation Frequency: Y2006 </a:t>
            </a:r>
            <a:r>
              <a:rPr lang="mr-IN" dirty="0" smtClean="0"/>
              <a:t>–</a:t>
            </a:r>
            <a:r>
              <a:rPr lang="en-US" dirty="0" smtClean="0"/>
              <a:t> Y2015</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06935" y="1825625"/>
            <a:ext cx="6978129" cy="4351338"/>
          </a:xfrm>
        </p:spPr>
      </p:pic>
    </p:spTree>
    <p:extLst>
      <p:ext uri="{BB962C8B-B14F-4D97-AF65-F5344CB8AC3E}">
        <p14:creationId xmlns:p14="http://schemas.microsoft.com/office/powerpoint/2010/main" val="503013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lnSpcReduction="10000"/>
          </a:bodyPr>
          <a:lstStyle/>
          <a:p>
            <a:r>
              <a:rPr lang="en-US" dirty="0" smtClean="0"/>
              <a:t>The carrier (Beeline) covers all 14 regions in Kazakhstan. Total Revenue are brought by major regions: AST, KZT, SHM, KZO. However, average revenue was the highest in AST in August, and in KZO in September.</a:t>
            </a:r>
            <a:endParaRPr lang="en-US" dirty="0"/>
          </a:p>
          <a:p>
            <a:pPr lvl="1"/>
            <a:r>
              <a:rPr lang="en-US" dirty="0" smtClean="0"/>
              <a:t>Suggestion: Target revenue increase in KZT, SHM, KAR, OSK, TRZ since this regions have more than 1 million population</a:t>
            </a:r>
          </a:p>
          <a:p>
            <a:r>
              <a:rPr lang="en-US" dirty="0" smtClean="0"/>
              <a:t>Sample Data is provided for August and September 2015, with around 1000 instances in each month. In slide 8 there is a very high indication of Data Revenue in AST region in August only. However, in September the indication is five times less.</a:t>
            </a:r>
          </a:p>
          <a:p>
            <a:pPr lvl="1"/>
            <a:r>
              <a:rPr lang="en-US" dirty="0" smtClean="0"/>
              <a:t>Suggestion: the number of instances should be increased or more months should be included for more reliable results.</a:t>
            </a:r>
            <a:endParaRPr lang="en-US" dirty="0"/>
          </a:p>
          <a:p>
            <a:endParaRPr lang="en-US" dirty="0" smtClean="0"/>
          </a:p>
        </p:txBody>
      </p:sp>
    </p:spTree>
    <p:extLst>
      <p:ext uri="{BB962C8B-B14F-4D97-AF65-F5344CB8AC3E}">
        <p14:creationId xmlns:p14="http://schemas.microsoft.com/office/powerpoint/2010/main" val="89572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a:t>R</a:t>
            </a:r>
            <a:r>
              <a:rPr lang="en-US" baseline="0" dirty="0" smtClean="0"/>
              <a:t>evenue from voice in KZT is twice as high as in SHM, however, the voice usage is higher in SHM than in KZT. What</a:t>
            </a:r>
            <a:r>
              <a:rPr lang="en-US" dirty="0" smtClean="0"/>
              <a:t> are the reasons? </a:t>
            </a:r>
          </a:p>
          <a:p>
            <a:pPr lvl="1"/>
            <a:r>
              <a:rPr lang="en-US" dirty="0" smtClean="0"/>
              <a:t>Suggestion: Demographic, Social, and Economic Data on clients are needed to explore client behavior</a:t>
            </a:r>
          </a:p>
          <a:p>
            <a:pPr lvl="1"/>
            <a:endParaRPr lang="en-US" dirty="0"/>
          </a:p>
        </p:txBody>
      </p:sp>
    </p:spTree>
    <p:extLst>
      <p:ext uri="{BB962C8B-B14F-4D97-AF65-F5344CB8AC3E}">
        <p14:creationId xmlns:p14="http://schemas.microsoft.com/office/powerpoint/2010/main" val="1900828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1182</TotalTime>
  <Words>878</Words>
  <Application>Microsoft Macintosh PowerPoint</Application>
  <PresentationFormat>Widescreen</PresentationFormat>
  <Paragraphs>70</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Mangal</vt:lpstr>
      <vt:lpstr>Office Theme</vt:lpstr>
      <vt:lpstr>Data Analysis of client network usage in August and September 2015</vt:lpstr>
      <vt:lpstr>Content:</vt:lpstr>
      <vt:lpstr>Data Overview</vt:lpstr>
      <vt:lpstr>Distribution of Total Revenue per Region</vt:lpstr>
      <vt:lpstr>Total Revenue for each Region in each month</vt:lpstr>
      <vt:lpstr>Total Revenue mean for each Region in each month</vt:lpstr>
      <vt:lpstr>Total Revenue summary</vt:lpstr>
      <vt:lpstr>Total Data Revenue</vt:lpstr>
      <vt:lpstr>Average Data Revenue</vt:lpstr>
      <vt:lpstr>August: Sum of Revenue Data and Sum of Traffic Data usage</vt:lpstr>
      <vt:lpstr>September: Sum of Revenue Data and Sum of Traffic Data usage</vt:lpstr>
      <vt:lpstr>Total Revenue from Voice</vt:lpstr>
      <vt:lpstr>Total Voice Usage</vt:lpstr>
      <vt:lpstr>PowerPoint Presentation</vt:lpstr>
      <vt:lpstr>PowerPoint Presentation</vt:lpstr>
      <vt:lpstr>Service Activation Frequency: Y2006 – Y2015</vt:lpstr>
      <vt:lpstr>Conclusion</vt:lpstr>
      <vt:lpstr>Conclusion</vt:lpstr>
    </vt:vector>
  </TitlesOfParts>
  <Company/>
  <LinksUpToDate>false</LinksUpToDate>
  <SharedDoc>false</SharedDoc>
  <HyperlinksChanged>false</HyperlinksChanged>
  <AppVersion>15.0025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39</cp:revision>
  <dcterms:created xsi:type="dcterms:W3CDTF">2017-06-26T16:28:13Z</dcterms:created>
  <dcterms:modified xsi:type="dcterms:W3CDTF">2019-03-30T16:37:03Z</dcterms:modified>
</cp:coreProperties>
</file>